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0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0" y="3093862"/>
            <a:ext cx="30000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lang="en-GB" sz="1800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40345" y="3597046"/>
            <a:ext cx="7546537" cy="117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r>
              <a:rPr lang="en-IN" b="1" dirty="0"/>
              <a:t>PRIME'S CHOSEN THREE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r>
              <a:rPr lang="en-IN" b="1" dirty="0"/>
              <a:t>NAVEENKUMAR T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>
              <a:lnSpc>
                <a:spcPct val="115000"/>
              </a:lnSpc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r>
              <a:rPr lang="en-US" b="1" dirty="0"/>
              <a:t>Dynamic AI Workload Orchestrator for Energy-Aware High-Performance Computing Clusters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311700" y="1295303"/>
            <a:ext cx="8520600" cy="3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algn="l"/>
            <a:r>
              <a:rPr lang="en-GB" sz="1300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0" b="1" dirty="0">
                <a:solidFill>
                  <a:schemeClr val="tx1"/>
                </a:solidFill>
              </a:rPr>
              <a:t>PROBLEM : </a:t>
            </a: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dirty="0"/>
              <a:t>              Modern AI and HPC workloads consume massive energy.</a:t>
            </a:r>
          </a:p>
          <a:p>
            <a:pPr algn="l"/>
            <a:r>
              <a:rPr lang="en-US" sz="1400" dirty="0"/>
              <a:t>              Current schedulers optimize only for performance — </a:t>
            </a:r>
            <a:r>
              <a:rPr lang="en-US" sz="1400" b="1" dirty="0">
                <a:solidFill>
                  <a:schemeClr val="tx1"/>
                </a:solidFill>
              </a:rPr>
              <a:t>not energy efficiency, carbon footprint, or thermal impact</a:t>
            </a:r>
            <a:r>
              <a:rPr lang="en-US" sz="1400" dirty="0"/>
              <a:t>.</a:t>
            </a:r>
          </a:p>
          <a:p>
            <a:pPr algn="l"/>
            <a:r>
              <a:rPr lang="en-US" sz="1400" dirty="0"/>
              <a:t>              This leads to high operational costs and environmental impact.</a:t>
            </a:r>
          </a:p>
          <a:p>
            <a:pPr algn="l"/>
            <a:endParaRPr lang="en-IN" sz="1400" b="1" dirty="0">
              <a:solidFill>
                <a:schemeClr val="tx1"/>
              </a:solidFill>
            </a:endParaRPr>
          </a:p>
          <a:p>
            <a:pPr algn="l"/>
            <a:endParaRPr lang="en-IN" sz="1400" b="1" dirty="0">
              <a:solidFill>
                <a:schemeClr val="tx1"/>
              </a:solidFill>
            </a:endParaRPr>
          </a:p>
          <a:p>
            <a:pPr algn="l"/>
            <a:r>
              <a:rPr lang="en-IN" sz="1400" b="1" dirty="0">
                <a:solidFill>
                  <a:schemeClr val="tx1"/>
                </a:solidFill>
              </a:rPr>
              <a:t>PROPOSED SOLUTION :</a:t>
            </a:r>
          </a:p>
          <a:p>
            <a:pPr algn="l"/>
            <a:endParaRPr lang="en-IN" sz="1400" dirty="0"/>
          </a:p>
          <a:p>
            <a:pPr algn="l"/>
            <a:r>
              <a:rPr lang="en-IN" sz="1400" dirty="0"/>
              <a:t>              A </a:t>
            </a:r>
            <a:r>
              <a:rPr lang="en-IN" sz="1400" b="1" dirty="0">
                <a:solidFill>
                  <a:schemeClr val="tx1"/>
                </a:solidFill>
              </a:rPr>
              <a:t>software-based intelligent orchestration system </a:t>
            </a:r>
            <a:r>
              <a:rPr lang="en-IN" sz="1400" dirty="0"/>
              <a:t>that dynamically schedules AI/HPC workloads by  </a:t>
            </a:r>
          </a:p>
          <a:p>
            <a:pPr algn="l"/>
            <a:endParaRPr lang="en-IN" sz="1400" dirty="0"/>
          </a:p>
          <a:p>
            <a:pPr algn="l"/>
            <a:endParaRPr lang="en-IN" sz="1400" b="1" dirty="0">
              <a:solidFill>
                <a:schemeClr val="tx1"/>
              </a:solidFill>
            </a:endParaRPr>
          </a:p>
          <a:p>
            <a:pPr algn="l"/>
            <a:r>
              <a:rPr lang="en-IN" sz="1400" b="1" dirty="0">
                <a:solidFill>
                  <a:schemeClr val="tx1"/>
                </a:solidFill>
              </a:rPr>
              <a:t>OPTIMIZING :</a:t>
            </a:r>
          </a:p>
          <a:p>
            <a:pPr algn="l"/>
            <a:endParaRPr lang="en-IN" sz="1400" b="1" dirty="0">
              <a:solidFill>
                <a:schemeClr val="tx1"/>
              </a:solidFill>
            </a:endParaRPr>
          </a:p>
          <a:p>
            <a:pPr algn="l"/>
            <a:r>
              <a:rPr lang="en-IN" sz="1400" dirty="0"/>
              <a:t>             ⚡ Energy Consumption</a:t>
            </a:r>
          </a:p>
          <a:p>
            <a:pPr algn="l"/>
            <a:r>
              <a:rPr lang="en-IN" sz="1400" dirty="0"/>
              <a:t>             🌱 Carbon Intensity</a:t>
            </a:r>
          </a:p>
          <a:p>
            <a:pPr algn="l"/>
            <a:r>
              <a:rPr lang="en-IN" sz="1400" dirty="0"/>
              <a:t>             🚀 Performance (SLA compliance)</a:t>
            </a:r>
          </a:p>
          <a:p>
            <a:pPr algn="l"/>
            <a:r>
              <a:rPr lang="en-IN" sz="1400" dirty="0"/>
              <a:t>              🌡 Thermal Balance</a:t>
            </a:r>
          </a:p>
          <a:p>
            <a:pPr algn="l"/>
            <a:endParaRPr lang="en-IN" sz="1400" dirty="0"/>
          </a:p>
          <a:p>
            <a:pPr algn="l"/>
            <a:endParaRPr lang="en-IN" sz="1400" b="1" dirty="0">
              <a:solidFill>
                <a:schemeClr val="tx1"/>
              </a:solidFill>
            </a:endParaRPr>
          </a:p>
          <a:p>
            <a:pPr algn="l"/>
            <a:r>
              <a:rPr lang="en-IN" sz="1400" b="1" dirty="0">
                <a:solidFill>
                  <a:schemeClr val="tx1"/>
                </a:solidFill>
              </a:rPr>
              <a:t>USING :</a:t>
            </a:r>
          </a:p>
          <a:p>
            <a:pPr algn="l"/>
            <a:r>
              <a:rPr lang="en-IN" sz="1400" dirty="0"/>
              <a:t>               Predictive AI models for workload &amp; power estimation</a:t>
            </a:r>
          </a:p>
          <a:p>
            <a:pPr algn="l"/>
            <a:r>
              <a:rPr lang="en-IN" sz="1400" dirty="0"/>
              <a:t>               Reinforcement Learning / Multi-objective optimization</a:t>
            </a:r>
          </a:p>
          <a:p>
            <a:pPr algn="l"/>
            <a:r>
              <a:rPr lang="en-IN" sz="1400" dirty="0"/>
              <a:t>               Real-time carbon intensity data</a:t>
            </a:r>
          </a:p>
          <a:p>
            <a:endParaRPr sz="13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1153037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Opportunities  : 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962525" y="1459946"/>
            <a:ext cx="8309786" cy="2223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l"/>
            <a:endParaRPr lang="en-IN" sz="1400" b="1" dirty="0">
              <a:solidFill>
                <a:schemeClr val="tx1"/>
              </a:solidFill>
            </a:endParaRP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🌍 Rising global demand for sustainable AI &amp; green data </a:t>
            </a:r>
            <a:r>
              <a:rPr lang="en-IN" sz="1400" dirty="0" err="1">
                <a:solidFill>
                  <a:schemeClr val="tx1"/>
                </a:solidFill>
              </a:rPr>
              <a:t>centers</a:t>
            </a:r>
            <a:endParaRPr lang="en-IN" sz="1400" dirty="0">
              <a:solidFill>
                <a:schemeClr val="tx1"/>
              </a:solidFill>
            </a:endParaRP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⚡ Increasing energy costs in large-scale AI training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🏢 Enterprises seeking carbon-neutral computing solutions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☁️ Cloud providers aiming for energy-aware workload management</a:t>
            </a:r>
          </a:p>
          <a:p>
            <a:pPr algn="l"/>
            <a:r>
              <a:rPr lang="en-IN" sz="1400" dirty="0">
                <a:solidFill>
                  <a:schemeClr val="tx1"/>
                </a:solidFill>
              </a:rPr>
              <a:t>📈 Growing regulatory pressure on carbon reporting &amp; efficiency</a:t>
            </a:r>
            <a:endParaRPr lang="en-IN" sz="1400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🤖 Rapid Expansion of Large AI Models (LLMs &amp; Foundation Models)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💰 Need for Cost-Efficient Infrastructure Utilization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</a:rPr>
              <a:t>📊 Demand for Real-Time Energy &amp; Performance Transparency</a:t>
            </a:r>
            <a:endParaRPr lang="en-IN" sz="1400" dirty="0">
              <a:solidFill>
                <a:schemeClr val="tx1"/>
              </a:solidFill>
            </a:endParaRPr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7FD5D4D1-59DF-8C3A-78D0-BFBEB64A28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76276" y="1267802"/>
            <a:ext cx="890847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⚡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Energy-Aware Scheduling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Allocates workloads to minimize total power consumption.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🌱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Carbon-Aware Decisions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live carbon intensity data to reduce emissions.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Workload Prediction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Forecasts resource usage and power demand before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Multi-Objective Optimization Engine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Balances performance, energy, carbon footprint, and thermal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🔁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Self-Learning Reinforcement Scheduler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improves decision-making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🌡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Thermal Load Balancing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node overheating and reduces cooling overhead.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 Monitoring &amp; Analytics Dashboard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energy savings, carbon reduction, and performance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🔄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Workload Reallocation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migrates jobs to more efficient nodes when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2119874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AutoShape 6">
            <a:extLst>
              <a:ext uri="{FF2B5EF4-FFF2-40B4-BE49-F238E27FC236}">
                <a16:creationId xmlns:a16="http://schemas.microsoft.com/office/drawing/2014/main" id="{D67F8CBC-8327-3ABA-43EA-917A4149EE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1960574" cy="196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2928CF-6AE3-6947-9CBF-2FC832BD4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578" y="1094522"/>
            <a:ext cx="6265545" cy="380614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8E6A67-C943-BE1B-CC04-9223542A7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58" y="1255840"/>
            <a:ext cx="2722439" cy="16617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A9BF2-DBFE-28C4-EDE4-03F0A80E6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3357" y="1224399"/>
            <a:ext cx="2722439" cy="164768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EBC879-B138-7C80-041D-B9957A0A6B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858" y="3274572"/>
            <a:ext cx="2722439" cy="16617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6CC4F3-CA5F-C5FA-2249-7A22FBE21E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3358" y="3288632"/>
            <a:ext cx="2722438" cy="164768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A0FB95B-E4C7-D456-845C-A79889D7521F}"/>
              </a:ext>
            </a:extLst>
          </p:cNvPr>
          <p:cNvSpPr txBox="1"/>
          <p:nvPr/>
        </p:nvSpPr>
        <p:spPr>
          <a:xfrm>
            <a:off x="5993613" y="887593"/>
            <a:ext cx="1821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JOB SCHEDULING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AEAF69-CD65-CE86-3F50-1DBD2127D5C8}"/>
              </a:ext>
            </a:extLst>
          </p:cNvPr>
          <p:cNvSpPr txBox="1"/>
          <p:nvPr/>
        </p:nvSpPr>
        <p:spPr>
          <a:xfrm>
            <a:off x="5645675" y="2916275"/>
            <a:ext cx="4015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MONITORING AND REPORTING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C86227-6B06-273D-B7F7-04A965762F76}"/>
              </a:ext>
            </a:extLst>
          </p:cNvPr>
          <p:cNvSpPr txBox="1"/>
          <p:nvPr/>
        </p:nvSpPr>
        <p:spPr>
          <a:xfrm>
            <a:off x="389858" y="2945706"/>
            <a:ext cx="2981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CARBON AWARE SCHEDULER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DB46BC-D0F6-D90C-5CA7-503DCFB90DC8}"/>
              </a:ext>
            </a:extLst>
          </p:cNvPr>
          <p:cNvSpPr txBox="1"/>
          <p:nvPr/>
        </p:nvSpPr>
        <p:spPr>
          <a:xfrm>
            <a:off x="1040918" y="880563"/>
            <a:ext cx="1821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DASHBOARD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9FB961-D846-9DE3-F65B-A1933A283D77}"/>
              </a:ext>
            </a:extLst>
          </p:cNvPr>
          <p:cNvSpPr txBox="1"/>
          <p:nvPr/>
        </p:nvSpPr>
        <p:spPr>
          <a:xfrm>
            <a:off x="1420772" y="539893"/>
            <a:ext cx="8080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Wireframes / mock diagrams of the proposed solution </a:t>
            </a:r>
            <a:endParaRPr lang="en-IN" sz="1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2009871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95F09E-ADAB-128F-86AF-10B41DAD0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1920" y="1185340"/>
            <a:ext cx="5541403" cy="369426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2387409" y="546047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9B2534-97FA-65DF-FE9A-A687CC0DDF4B}"/>
              </a:ext>
            </a:extLst>
          </p:cNvPr>
          <p:cNvSpPr txBox="1"/>
          <p:nvPr/>
        </p:nvSpPr>
        <p:spPr>
          <a:xfrm>
            <a:off x="238528" y="1153961"/>
            <a:ext cx="26996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⚙️ Optimization &amp; Scheduling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Multi-Objective Optimization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Genetic Algorithms / NSGA-II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 Scheduling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Kubernetes Scheduler Extensions / </a:t>
            </a:r>
            <a:r>
              <a:rPr lang="en-IN" dirty="0" err="1"/>
              <a:t>Slurm</a:t>
            </a:r>
            <a:r>
              <a:rPr lang="en-IN" dirty="0"/>
              <a:t> API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5C6C3-0401-0A2C-C9AB-9F7097F0C1F1}"/>
              </a:ext>
            </a:extLst>
          </p:cNvPr>
          <p:cNvSpPr txBox="1"/>
          <p:nvPr/>
        </p:nvSpPr>
        <p:spPr>
          <a:xfrm>
            <a:off x="269599" y="3078393"/>
            <a:ext cx="269963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🧠 AI &amp;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TensorFlow / </a:t>
            </a:r>
            <a:r>
              <a:rPr lang="en-IN" dirty="0" err="1"/>
              <a:t>PyTorch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Scikit-learn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Reinforcement Learning (Stable-Baselines / </a:t>
            </a:r>
            <a:r>
              <a:rPr lang="en-IN" dirty="0" err="1"/>
              <a:t>RLlib</a:t>
            </a:r>
            <a:r>
              <a:rPr lang="en-IN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2D899-2CA2-92E8-6E88-BBB78C1C38EA}"/>
              </a:ext>
            </a:extLst>
          </p:cNvPr>
          <p:cNvSpPr txBox="1"/>
          <p:nvPr/>
        </p:nvSpPr>
        <p:spPr>
          <a:xfrm>
            <a:off x="5691937" y="318528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📊 Data Processing &amp;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Prometheus (Metrics Collection)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Grafana (Visualization)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Pandas &amp; NumPy (Data Analysis)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Real-time Telemetry APIs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EA1F34-C3BA-031A-F1BD-3A5CE9A6B44D}"/>
              </a:ext>
            </a:extLst>
          </p:cNvPr>
          <p:cNvSpPr txBox="1"/>
          <p:nvPr/>
        </p:nvSpPr>
        <p:spPr>
          <a:xfrm>
            <a:off x="2938158" y="1153961"/>
            <a:ext cx="27537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🌱 Carbon &amp; Energy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Carbon Intensity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Energy </a:t>
            </a:r>
            <a:r>
              <a:rPr lang="en-IN" dirty="0" err="1"/>
              <a:t>Modeling</a:t>
            </a:r>
            <a:r>
              <a:rPr lang="en-IN" dirty="0"/>
              <a:t>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Power Consumption Simulation Models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1F3E9-1BFE-C20F-D5B5-C952AD02AAA0}"/>
              </a:ext>
            </a:extLst>
          </p:cNvPr>
          <p:cNvSpPr txBox="1"/>
          <p:nvPr/>
        </p:nvSpPr>
        <p:spPr>
          <a:xfrm>
            <a:off x="2938158" y="3250875"/>
            <a:ext cx="26262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📈 Frontend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React.js / Next.js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Tailwind CSS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1AF2F-74A7-9D30-3EF3-90F1DF5A7572}"/>
              </a:ext>
            </a:extLst>
          </p:cNvPr>
          <p:cNvSpPr txBox="1"/>
          <p:nvPr/>
        </p:nvSpPr>
        <p:spPr>
          <a:xfrm>
            <a:off x="5691937" y="1153960"/>
            <a:ext cx="54545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☁️ Infrastructure &amp;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Docker (Containerization)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Kubernetes (Orchestration)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REST APIs (Fast API / Flask)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Cloud Integration (AWS / Azure / On-Prem HPC)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Chart.js / D3.js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822999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768074-531B-9704-E8CF-245741454457}"/>
              </a:ext>
            </a:extLst>
          </p:cNvPr>
          <p:cNvSpPr txBox="1"/>
          <p:nvPr/>
        </p:nvSpPr>
        <p:spPr>
          <a:xfrm>
            <a:off x="1027814" y="1532074"/>
            <a:ext cx="708837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🖥️ AMD EPYC™ Processors</a:t>
            </a:r>
          </a:p>
          <a:p>
            <a:pPr>
              <a:buNone/>
            </a:pPr>
            <a:r>
              <a:rPr lang="en-IN" dirty="0"/>
              <a:t>Used to run the AI-based scheduling engine and workload prediction models efficiently in high-core data </a:t>
            </a:r>
            <a:r>
              <a:rPr lang="en-IN" dirty="0" err="1"/>
              <a:t>center</a:t>
            </a:r>
            <a:r>
              <a:rPr lang="en-IN" dirty="0"/>
              <a:t> environments.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🎮 AMD Instinct™ GPUs</a:t>
            </a:r>
          </a:p>
          <a:p>
            <a:pPr>
              <a:buNone/>
            </a:pPr>
            <a:r>
              <a:rPr lang="en-IN" dirty="0"/>
              <a:t>Used to accelerate reinforcement learning and optimization algorithms for intelligent workload orchestration.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⚙️ </a:t>
            </a:r>
            <a:r>
              <a:rPr lang="en-IN" b="1" dirty="0" err="1"/>
              <a:t>ROCm</a:t>
            </a:r>
            <a:r>
              <a:rPr lang="en-IN" b="1" dirty="0"/>
              <a:t>™ Software Platform</a:t>
            </a:r>
          </a:p>
          <a:p>
            <a:pPr>
              <a:buNone/>
            </a:pPr>
            <a:r>
              <a:rPr lang="en-IN" dirty="0"/>
              <a:t>Used to enable GPU-accelerated AI model training and integration with </a:t>
            </a:r>
            <a:r>
              <a:rPr lang="en-IN" dirty="0" err="1"/>
              <a:t>PyTorch</a:t>
            </a:r>
            <a:r>
              <a:rPr lang="en-IN" dirty="0"/>
              <a:t>/TensorFlow frameworks.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2409859" y="779286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Estimated implementation cost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453F32-EE31-1BC1-B341-3572D1896FE3}"/>
              </a:ext>
            </a:extLst>
          </p:cNvPr>
          <p:cNvSpPr txBox="1"/>
          <p:nvPr/>
        </p:nvSpPr>
        <p:spPr>
          <a:xfrm>
            <a:off x="474733" y="170919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🧠 Development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Model Development &amp; Optimization Engine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&amp; Scheduler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&amp; UI Development</a:t>
            </a:r>
            <a:br>
              <a:rPr lang="en-US" dirty="0"/>
            </a:br>
            <a:r>
              <a:rPr lang="en-US" b="1" dirty="0"/>
              <a:t>Estimated:</a:t>
            </a:r>
            <a:r>
              <a:rPr lang="en-US" dirty="0"/>
              <a:t> $8,000 – $12,000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846C7-B505-AFBA-F4CC-C0CCE367DC09}"/>
              </a:ext>
            </a:extLst>
          </p:cNvPr>
          <p:cNvSpPr txBox="1"/>
          <p:nvPr/>
        </p:nvSpPr>
        <p:spPr>
          <a:xfrm>
            <a:off x="2286000" y="3325695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☁️ Infrastructure &amp; Cloud Cost (Prototype Phase)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Cloud compute instances (CPU + GPU)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Storage &amp; Monitoring services</a:t>
            </a:r>
            <a:br>
              <a:rPr lang="en-IN" dirty="0"/>
            </a:br>
            <a:r>
              <a:rPr lang="en-IN" b="1" dirty="0"/>
              <a:t>Estimated:</a:t>
            </a:r>
            <a:r>
              <a:rPr lang="en-IN" dirty="0"/>
              <a:t> $2,000 – $5,000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34794-2AD1-7CF8-FB17-5127C1DF5BC5}"/>
              </a:ext>
            </a:extLst>
          </p:cNvPr>
          <p:cNvSpPr txBox="1"/>
          <p:nvPr/>
        </p:nvSpPr>
        <p:spPr>
          <a:xfrm>
            <a:off x="5206409" y="1639123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🛠 Software &amp;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Open-source frameworks (Python, </a:t>
            </a:r>
            <a:r>
              <a:rPr lang="en-US" dirty="0" err="1"/>
              <a:t>PyTorch</a:t>
            </a:r>
            <a:r>
              <a:rPr lang="en-US" dirty="0"/>
              <a:t>, Kubernetes)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Minimal licensing cost</a:t>
            </a:r>
            <a:br>
              <a:rPr lang="en-US" dirty="0"/>
            </a:br>
            <a:r>
              <a:rPr lang="en-US" b="1" dirty="0"/>
              <a:t>Estimated:</a:t>
            </a:r>
            <a:r>
              <a:rPr lang="en-US" dirty="0"/>
              <a:t> $0 – $1,000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ctrTitle"/>
          </p:nvPr>
        </p:nvSpPr>
        <p:spPr>
          <a:xfrm>
            <a:off x="311700" y="561524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2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sz="1620" b="1" dirty="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2B18C4-A466-420A-6089-4798A322C577}"/>
              </a:ext>
            </a:extLst>
          </p:cNvPr>
          <p:cNvSpPr txBox="1"/>
          <p:nvPr/>
        </p:nvSpPr>
        <p:spPr>
          <a:xfrm>
            <a:off x="737190" y="1009124"/>
            <a:ext cx="88391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📈 20% Energy Reduction</a:t>
            </a:r>
          </a:p>
          <a:p>
            <a:pPr>
              <a:buNone/>
            </a:pPr>
            <a:r>
              <a:rPr lang="en-IN" dirty="0"/>
              <a:t>AI-driven scheduling reduces power consumption during large-scale AI workloads.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🌱 18% Carbon Emission Decrease</a:t>
            </a:r>
          </a:p>
          <a:p>
            <a:pPr>
              <a:buNone/>
            </a:pPr>
            <a:r>
              <a:rPr lang="en-IN" dirty="0"/>
              <a:t>Carbon-aware node selection minimizes environmental impact without affecting performance.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⚡ 15% Higher Cluster Utilization</a:t>
            </a:r>
          </a:p>
          <a:p>
            <a:pPr>
              <a:buNone/>
            </a:pPr>
            <a:r>
              <a:rPr lang="en-IN" dirty="0"/>
              <a:t>Intelligent workload distribution maximizes resource efficiency.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💰 Reduced Operational Costs</a:t>
            </a:r>
          </a:p>
          <a:p>
            <a:pPr>
              <a:buNone/>
            </a:pPr>
            <a:r>
              <a:rPr lang="en-IN" dirty="0"/>
              <a:t>Optimized compute allocation lowers electricity and infrastructure expenses.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🚀 Scalable SaaS Deployment Model</a:t>
            </a:r>
          </a:p>
          <a:p>
            <a:pPr>
              <a:buNone/>
            </a:pPr>
            <a:r>
              <a:rPr lang="en-IN" dirty="0"/>
              <a:t>Designed for seamless integration across enterprise and cloud HPC environments.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</Words>
  <Application>Microsoft Office PowerPoint</Application>
  <PresentationFormat>On-screen Show (16:9)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Poppins</vt:lpstr>
      <vt:lpstr>Arial</vt:lpstr>
      <vt:lpstr>Simple Light</vt:lpstr>
      <vt:lpstr>PowerPoint Presentation</vt:lpstr>
      <vt:lpstr>Brief about the idea</vt:lpstr>
      <vt:lpstr>Opportunities  : </vt:lpstr>
      <vt:lpstr>List of features offered by the solution</vt:lpstr>
      <vt:lpstr>Process flow diagram or Use-case diagram</vt:lpstr>
      <vt:lpstr>PowerPoint Presentation</vt:lpstr>
      <vt:lpstr>Architecture diagram of the proposed solution</vt:lpstr>
      <vt:lpstr>Technologies to be used in the solution</vt:lpstr>
      <vt:lpstr>Usage of AMD Products/Solutions</vt:lpstr>
      <vt:lpstr>Estimated implementation cost</vt:lpstr>
      <vt:lpstr>Add as per the requirements of the contest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kishore</dc:creator>
  <cp:lastModifiedBy>K kishore</cp:lastModifiedBy>
  <cp:revision>1</cp:revision>
  <dcterms:modified xsi:type="dcterms:W3CDTF">2026-02-28T16:56:23Z</dcterms:modified>
</cp:coreProperties>
</file>